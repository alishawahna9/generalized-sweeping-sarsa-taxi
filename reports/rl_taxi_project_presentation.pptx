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bc0109eb244f54" /><Relationship Type="http://schemas.openxmlformats.org/officeDocument/2006/relationships/extended-properties" Target="/docProps/app.xml" Id="Rcc8894a2f1714fb2" /><Relationship Type="http://schemas.openxmlformats.org/officeDocument/2006/relationships/officeDocument" Target="/ppt/presentation.xml" Id="Rd27b1095c9f246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843b7294874b0f"/>
  </p:sldMasterIdLst>
  <p:notesMasterIdLst>
    <p:notesMasterId xmlns:r="http://schemas.openxmlformats.org/officeDocument/2006/relationships" r:id="Rf61648bf17b1489c"/>
  </p:notesMasterIdLst>
  <p:sldIdLst>
    <p:sldId xmlns:r="http://schemas.openxmlformats.org/officeDocument/2006/relationships" id="256" r:id="R08d9a8e52b1f49be"/>
    <p:sldId xmlns:r="http://schemas.openxmlformats.org/officeDocument/2006/relationships" id="257" r:id="Rfb7fdccf31d24411"/>
    <p:sldId xmlns:r="http://schemas.openxmlformats.org/officeDocument/2006/relationships" id="258" r:id="R7724560a5dee4ef5"/>
    <p:sldId xmlns:r="http://schemas.openxmlformats.org/officeDocument/2006/relationships" id="259" r:id="Rccc0b9f1b0f14dbf"/>
    <p:sldId xmlns:r="http://schemas.openxmlformats.org/officeDocument/2006/relationships" id="260" r:id="Rc200e05da02942aa"/>
    <p:sldId xmlns:r="http://schemas.openxmlformats.org/officeDocument/2006/relationships" id="261" r:id="R0899be516bd9413a"/>
    <p:sldId xmlns:r="http://schemas.openxmlformats.org/officeDocument/2006/relationships" id="262" r:id="R63b578a277bf40e3"/>
    <p:sldId xmlns:r="http://schemas.openxmlformats.org/officeDocument/2006/relationships" id="263" r:id="Rb1d32cf70c1f43b7"/>
    <p:sldId xmlns:r="http://schemas.openxmlformats.org/officeDocument/2006/relationships" id="264" r:id="R1e16cd48579747bb"/>
    <p:sldId xmlns:r="http://schemas.openxmlformats.org/officeDocument/2006/relationships" id="265" r:id="Rd3c3bf19061040e2"/>
    <p:sldId xmlns:r="http://schemas.openxmlformats.org/officeDocument/2006/relationships" id="266" r:id="R8c3dea4c0cb44c55"/>
    <p:sldId xmlns:r="http://schemas.openxmlformats.org/officeDocument/2006/relationships" id="267" r:id="R26fb1cb3a59147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9c7ee74b3a4e12" /><Relationship Type="http://schemas.openxmlformats.org/officeDocument/2006/relationships/slideMaster" Target="/ppt/slideMasters/slideMaster1.xml" Id="Rc1843b7294874b0f" /><Relationship Type="http://schemas.openxmlformats.org/officeDocument/2006/relationships/notesMaster" Target="/ppt/notesMasters/notesMaster1.xml" Id="Rf61648bf17b1489c" /><Relationship Type="http://schemas.openxmlformats.org/officeDocument/2006/relationships/presProps" Target="/ppt/presProps.xml" Id="R3d5a014888694d98" /><Relationship Type="http://schemas.openxmlformats.org/officeDocument/2006/relationships/tableStyles" Target="/ppt/tableStyles.xml" Id="R7e4b466c71ae4d5f" /><Relationship Type="http://schemas.openxmlformats.org/officeDocument/2006/relationships/slide" Target="/ppt/slides/slide1.xml" Id="R08d9a8e52b1f49be" /><Relationship Type="http://schemas.openxmlformats.org/officeDocument/2006/relationships/slide" Target="/ppt/slides/slide2.xml" Id="Rfb7fdccf31d24411" /><Relationship Type="http://schemas.openxmlformats.org/officeDocument/2006/relationships/slide" Target="/ppt/slides/slide3.xml" Id="R7724560a5dee4ef5" /><Relationship Type="http://schemas.openxmlformats.org/officeDocument/2006/relationships/slide" Target="/ppt/slides/slide4.xml" Id="Rccc0b9f1b0f14dbf" /><Relationship Type="http://schemas.openxmlformats.org/officeDocument/2006/relationships/slide" Target="/ppt/slides/slide5.xml" Id="Rc200e05da02942aa" /><Relationship Type="http://schemas.openxmlformats.org/officeDocument/2006/relationships/slide" Target="/ppt/slides/slide6.xml" Id="R0899be516bd9413a" /><Relationship Type="http://schemas.openxmlformats.org/officeDocument/2006/relationships/slide" Target="/ppt/slides/slide7.xml" Id="R63b578a277bf40e3" /><Relationship Type="http://schemas.openxmlformats.org/officeDocument/2006/relationships/slide" Target="/ppt/slides/slide8.xml" Id="Rb1d32cf70c1f43b7" /><Relationship Type="http://schemas.openxmlformats.org/officeDocument/2006/relationships/slide" Target="/ppt/slides/slide9.xml" Id="R1e16cd48579747bb" /><Relationship Type="http://schemas.openxmlformats.org/officeDocument/2006/relationships/slide" Target="/ppt/slides/slide10.xml" Id="Rd3c3bf19061040e2" /><Relationship Type="http://schemas.openxmlformats.org/officeDocument/2006/relationships/slide" Target="/ppt/slides/slide11.xml" Id="R8c3dea4c0cb44c55" /><Relationship Type="http://schemas.openxmlformats.org/officeDocument/2006/relationships/slide" Target="/ppt/slides/slide12.xml" Id="R26fb1cb3a59147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0ed6a763d546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fe30da95e4520" /><Relationship Type="http://schemas.openxmlformats.org/officeDocument/2006/relationships/notesMaster" Target="/ppt/notesMasters/notesMaster1.xml" Id="Re3b84937e2a941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9482cb55a547c6" /><Relationship Type="http://schemas.openxmlformats.org/officeDocument/2006/relationships/notesMaster" Target="/ppt/notesMasters/notesMaster1.xml" Id="Rf4706ebeef3b41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0488eea36a4147" /><Relationship Type="http://schemas.openxmlformats.org/officeDocument/2006/relationships/notesMaster" Target="/ppt/notesMasters/notesMaster1.xml" Id="R90dee76f237241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9f28c6713d49c6" /><Relationship Type="http://schemas.openxmlformats.org/officeDocument/2006/relationships/notesMaster" Target="/ppt/notesMasters/notesMaster1.xml" Id="R5d42f277509546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57c5415d8a4f4b" /><Relationship Type="http://schemas.openxmlformats.org/officeDocument/2006/relationships/notesMaster" Target="/ppt/notesMasters/notesMaster1.xml" Id="R13bd6507a7e24a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eb99a072f54ff0" /><Relationship Type="http://schemas.openxmlformats.org/officeDocument/2006/relationships/notesMaster" Target="/ppt/notesMasters/notesMaster1.xml" Id="R7da627ebb9724e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18b6a150184af6" /><Relationship Type="http://schemas.openxmlformats.org/officeDocument/2006/relationships/notesMaster" Target="/ppt/notesMasters/notesMaster1.xml" Id="R26be69954b8147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dda89acb264f42" /><Relationship Type="http://schemas.openxmlformats.org/officeDocument/2006/relationships/notesMaster" Target="/ppt/notesMasters/notesMaster1.xml" Id="R2a7547db2e6443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6790f62c2f40b7" /><Relationship Type="http://schemas.openxmlformats.org/officeDocument/2006/relationships/notesMaster" Target="/ppt/notesMasters/notesMaster1.xml" Id="R039c6bfe63e647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952412fa3b4a02" /><Relationship Type="http://schemas.openxmlformats.org/officeDocument/2006/relationships/notesMaster" Target="/ppt/notesMasters/notesMaster1.xml" Id="R8ee48e50cd9e41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59033fe76134602" /><Relationship Type="http://schemas.openxmlformats.org/officeDocument/2006/relationships/notesMaster" Target="/ppt/notesMasters/notesMaster1.xml" Id="R926e8c56ab0f4e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1dc550f6a44010" /><Relationship Type="http://schemas.openxmlformats.org/officeDocument/2006/relationships/notesMaster" Target="/ppt/notesMasters/notesMaster1.xml" Id="R395aaf265a9445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ae691cc7043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eb117473a74e24" /><Relationship Type="http://schemas.openxmlformats.org/officeDocument/2006/relationships/slideLayout" Target="/ppt/slideLayouts/slideLayout1.xml" Id="R07ee5b3f607143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ee5b3f607143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6fc6aa00443b0" /><Relationship Type="http://schemas.openxmlformats.org/officeDocument/2006/relationships/notesSlide" Target="/ppt/notesSlides/notesSlide1.xml" Id="R307351cee0d640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0187c902b4010" /><Relationship Type="http://schemas.openxmlformats.org/officeDocument/2006/relationships/notesSlide" Target="/ppt/notesSlides/notesSlide2.xml" Id="R679460b3acdf4f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42283dd4b94065" /><Relationship Type="http://schemas.openxmlformats.org/officeDocument/2006/relationships/notesSlide" Target="/ppt/notesSlides/notesSlide3.xml" Id="R52cd58c43eec4a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5ea96525e4df3" /><Relationship Type="http://schemas.openxmlformats.org/officeDocument/2006/relationships/notesSlide" Target="/ppt/notesSlides/notesSlide4.xml" Id="Rab8f5a57204949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4874970cc4bc8" /><Relationship Type="http://schemas.openxmlformats.org/officeDocument/2006/relationships/notesSlide" Target="/ppt/notesSlides/notesSlide5.xml" Id="R9e7afada689647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dff70515843f1" /><Relationship Type="http://schemas.openxmlformats.org/officeDocument/2006/relationships/image" Target="/ppt/media/image.png" Id="R1c6919d7b8a04a3c" /><Relationship Type="http://schemas.openxmlformats.org/officeDocument/2006/relationships/image" Target="/ppt/media/image2.png" Id="R9c37b5a067af43f8" /><Relationship Type="http://schemas.openxmlformats.org/officeDocument/2006/relationships/notesSlide" Target="/ppt/notesSlides/notesSlide6.xml" Id="Rec30c018cba642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c68782e4d461a" /><Relationship Type="http://schemas.openxmlformats.org/officeDocument/2006/relationships/notesSlide" Target="/ppt/notesSlides/notesSlide7.xml" Id="Rfbd297ee596e4a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24c0291604afb" /><Relationship Type="http://schemas.openxmlformats.org/officeDocument/2006/relationships/image" Target="/ppt/media/image3.png" Id="R660ea14a0d674e09" /><Relationship Type="http://schemas.openxmlformats.org/officeDocument/2006/relationships/image" Target="/ppt/media/image4.png" Id="Rc7f760cb08f84ee9" /><Relationship Type="http://schemas.openxmlformats.org/officeDocument/2006/relationships/notesSlide" Target="/ppt/notesSlides/notesSlide8.xml" Id="R43e8aca1b37749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938aac39b4372" /><Relationship Type="http://schemas.openxmlformats.org/officeDocument/2006/relationships/image" Target="/ppt/media/image5.png" Id="Rd4602f6962634d11" /><Relationship Type="http://schemas.openxmlformats.org/officeDocument/2006/relationships/image" Target="/ppt/media/image6.png" Id="Re37f33f0f8e04bb7" /><Relationship Type="http://schemas.openxmlformats.org/officeDocument/2006/relationships/notesSlide" Target="/ppt/notesSlides/notesSlide9.xml" Id="R86120d2f7d124b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44355c4734c12" /><Relationship Type="http://schemas.openxmlformats.org/officeDocument/2006/relationships/chart" Target="/ppt/slides/charts/chart1.xml" Id="R6929cb6a3b2f405b" /><Relationship Type="http://schemas.openxmlformats.org/officeDocument/2006/relationships/notesSlide" Target="/ppt/notesSlides/notesSlide10.xml" Id="R9894f4e1810d43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88530773d4efd" /><Relationship Type="http://schemas.openxmlformats.org/officeDocument/2006/relationships/notesSlide" Target="/ppt/notesSlides/notesSlide11.xml" Id="R007b4b1876fb4b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88431e8a64b91" /><Relationship Type="http://schemas.openxmlformats.org/officeDocument/2006/relationships/notesSlide" Target="/ppt/notesSlides/notesSlide12.xml" Id="R49220e11c85c4c46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Pure SARSA</c:v>
          </c:tx>
          <c:spPr>
            <a:solidFill xmlns:a="http://schemas.openxmlformats.org/drawingml/2006/main">
              <a:srgbClr val="11111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0"/>
              <c:pt idx="0">
                <c:v>30</c:v>
              </c:pt>
              <c:pt idx="1">
                <c:v>60</c:v>
              </c:pt>
              <c:pt idx="2">
                <c:v>90</c:v>
              </c:pt>
              <c:pt idx="3">
                <c:v>120</c:v>
              </c:pt>
              <c:pt idx="4">
                <c:v>150</c:v>
              </c:pt>
              <c:pt idx="5">
                <c:v>180</c:v>
              </c:pt>
              <c:pt idx="6">
                <c:v>210</c:v>
              </c:pt>
              <c:pt idx="7">
                <c:v>240</c:v>
              </c:pt>
              <c:pt idx="8">
                <c:v>270</c:v>
              </c:pt>
              <c:pt idx="9">
                <c:v>300</c:v>
              </c:pt>
              <c:pt idx="10">
                <c:v>330</c:v>
              </c:pt>
              <c:pt idx="11">
                <c:v>360</c:v>
              </c:pt>
              <c:pt idx="12">
                <c:v>390</c:v>
              </c:pt>
              <c:pt idx="13">
                <c:v>420</c:v>
              </c:pt>
              <c:pt idx="14">
                <c:v>450</c:v>
              </c:pt>
              <c:pt idx="15">
                <c:v>480</c:v>
              </c:pt>
              <c:pt idx="16">
                <c:v>510</c:v>
              </c:pt>
              <c:pt idx="17">
                <c:v>540</c:v>
              </c:pt>
              <c:pt idx="18">
                <c:v>570</c:v>
              </c:pt>
              <c:pt idx="19">
                <c:v>600</c:v>
              </c:pt>
            </c:numLit>
          </c:cat>
          <c:val>
            <c:numLit>
              <c:formatCode>General</c:formatCode>
              <c:ptCount val="20"/>
              <c:pt idx="0">
                <c:v>60.43333333333334</c:v>
              </c:pt>
              <c:pt idx="1">
                <c:v>51.519999999999996</c:v>
              </c:pt>
              <c:pt idx="2">
                <c:v>36.956</c:v>
              </c:pt>
              <c:pt idx="3">
                <c:v>25.824</c:v>
              </c:pt>
              <c:pt idx="4">
                <c:v>17.684</c:v>
              </c:pt>
              <c:pt idx="5">
                <c:v>11.74</c:v>
              </c:pt>
              <c:pt idx="6">
                <c:v>7.924000000000001</c:v>
              </c:pt>
              <c:pt idx="7">
                <c:v>5.456</c:v>
              </c:pt>
              <c:pt idx="8">
                <c:v>3.8200000000000003</c:v>
              </c:pt>
              <c:pt idx="9">
                <c:v>2.3760000000000003</c:v>
              </c:pt>
              <c:pt idx="10">
                <c:v>1.9280000000000002</c:v>
              </c:pt>
              <c:pt idx="11">
                <c:v>1.2</c:v>
              </c:pt>
              <c:pt idx="12">
                <c:v>0.6599999999999999</c:v>
              </c:pt>
              <c:pt idx="13">
                <c:v>0.524</c:v>
              </c:pt>
              <c:pt idx="14">
                <c:v>0.36</c:v>
              </c:pt>
              <c:pt idx="15">
                <c:v>0.36</c:v>
              </c:pt>
              <c:pt idx="16">
                <c:v>0.25200000000000006</c:v>
              </c:pt>
              <c:pt idx="17">
                <c:v>0.148</c:v>
              </c:pt>
              <c:pt idx="18">
                <c:v>0.092</c:v>
              </c:pt>
              <c:pt idx="19">
                <c:v>0.11200000000000002</c:v>
              </c:pt>
            </c:numLit>
          </c:val>
          <c:smooth val="0"/>
        </c:ser>
        <c:ser>
          <c:idx val="1"/>
          <c:order val="1"/>
          <c:tx>
            <c:v>SARSA + Planning</c:v>
          </c:tx>
          <c:spPr>
            <a:solidFill xmlns:a="http://schemas.openxmlformats.org/drawingml/2006/main">
              <a:srgbClr val="FF6B35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0"/>
              <c:pt idx="0">
                <c:v>30</c:v>
              </c:pt>
              <c:pt idx="1">
                <c:v>60</c:v>
              </c:pt>
              <c:pt idx="2">
                <c:v>90</c:v>
              </c:pt>
              <c:pt idx="3">
                <c:v>120</c:v>
              </c:pt>
              <c:pt idx="4">
                <c:v>150</c:v>
              </c:pt>
              <c:pt idx="5">
                <c:v>180</c:v>
              </c:pt>
              <c:pt idx="6">
                <c:v>210</c:v>
              </c:pt>
              <c:pt idx="7">
                <c:v>240</c:v>
              </c:pt>
              <c:pt idx="8">
                <c:v>270</c:v>
              </c:pt>
              <c:pt idx="9">
                <c:v>300</c:v>
              </c:pt>
              <c:pt idx="10">
                <c:v>330</c:v>
              </c:pt>
              <c:pt idx="11">
                <c:v>360</c:v>
              </c:pt>
              <c:pt idx="12">
                <c:v>390</c:v>
              </c:pt>
              <c:pt idx="13">
                <c:v>420</c:v>
              </c:pt>
              <c:pt idx="14">
                <c:v>450</c:v>
              </c:pt>
              <c:pt idx="15">
                <c:v>480</c:v>
              </c:pt>
              <c:pt idx="16">
                <c:v>510</c:v>
              </c:pt>
              <c:pt idx="17">
                <c:v>540</c:v>
              </c:pt>
              <c:pt idx="18">
                <c:v>570</c:v>
              </c:pt>
              <c:pt idx="19">
                <c:v>600</c:v>
              </c:pt>
            </c:numLit>
          </c:cat>
          <c:val>
            <c:numLit>
              <c:formatCode>General</c:formatCode>
              <c:ptCount val="20"/>
              <c:pt idx="0">
                <c:v>61.580000000000005</c:v>
              </c:pt>
              <c:pt idx="1">
                <c:v>50.995999999999995</c:v>
              </c:pt>
              <c:pt idx="2">
                <c:v>36.86</c:v>
              </c:pt>
              <c:pt idx="3">
                <c:v>26.212</c:v>
              </c:pt>
              <c:pt idx="4">
                <c:v>18.308</c:v>
              </c:pt>
              <c:pt idx="5">
                <c:v>12.716</c:v>
              </c:pt>
              <c:pt idx="6">
                <c:v>7.7200000000000015</c:v>
              </c:pt>
              <c:pt idx="7">
                <c:v>5.683999999999999</c:v>
              </c:pt>
              <c:pt idx="8">
                <c:v>3.816</c:v>
              </c:pt>
              <c:pt idx="9">
                <c:v>2.2560000000000002</c:v>
              </c:pt>
              <c:pt idx="10">
                <c:v>1.404</c:v>
              </c:pt>
              <c:pt idx="11">
                <c:v>0.984</c:v>
              </c:pt>
              <c:pt idx="12">
                <c:v>0.668</c:v>
              </c:pt>
              <c:pt idx="13">
                <c:v>0.608</c:v>
              </c:pt>
              <c:pt idx="14">
                <c:v>0.42799999999999994</c:v>
              </c:pt>
              <c:pt idx="15">
                <c:v>0.356</c:v>
              </c:pt>
              <c:pt idx="16">
                <c:v>0.20400000000000001</c:v>
              </c:pt>
              <c:pt idx="17">
                <c:v>0.148</c:v>
              </c:pt>
              <c:pt idx="18">
                <c:v>0.196</c:v>
              </c:pt>
              <c:pt idx="19">
                <c:v>0.11600000000000002</c:v>
              </c:pt>
            </c:numLit>
          </c:val>
          <c:smooth val="0"/>
        </c:ser>
        <c:ser>
          <c:idx val="2"/>
          <c:order val="2"/>
          <c:tx>
            <c:v>SARSA + Kernel</c:v>
          </c:tx>
          <c:spPr>
            <a:solidFill xmlns:a="http://schemas.openxmlformats.org/drawingml/2006/main">
              <a:srgbClr val="B8BCC4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0"/>
              <c:pt idx="0">
                <c:v>30</c:v>
              </c:pt>
              <c:pt idx="1">
                <c:v>60</c:v>
              </c:pt>
              <c:pt idx="2">
                <c:v>90</c:v>
              </c:pt>
              <c:pt idx="3">
                <c:v>120</c:v>
              </c:pt>
              <c:pt idx="4">
                <c:v>150</c:v>
              </c:pt>
              <c:pt idx="5">
                <c:v>180</c:v>
              </c:pt>
              <c:pt idx="6">
                <c:v>210</c:v>
              </c:pt>
              <c:pt idx="7">
                <c:v>240</c:v>
              </c:pt>
              <c:pt idx="8">
                <c:v>270</c:v>
              </c:pt>
              <c:pt idx="9">
                <c:v>300</c:v>
              </c:pt>
              <c:pt idx="10">
                <c:v>330</c:v>
              </c:pt>
              <c:pt idx="11">
                <c:v>360</c:v>
              </c:pt>
              <c:pt idx="12">
                <c:v>390</c:v>
              </c:pt>
              <c:pt idx="13">
                <c:v>420</c:v>
              </c:pt>
              <c:pt idx="14">
                <c:v>450</c:v>
              </c:pt>
              <c:pt idx="15">
                <c:v>480</c:v>
              </c:pt>
              <c:pt idx="16">
                <c:v>510</c:v>
              </c:pt>
              <c:pt idx="17">
                <c:v>540</c:v>
              </c:pt>
              <c:pt idx="18">
                <c:v>570</c:v>
              </c:pt>
              <c:pt idx="19">
                <c:v>600</c:v>
              </c:pt>
            </c:numLit>
          </c:cat>
          <c:val>
            <c:numLit>
              <c:formatCode>General</c:formatCode>
              <c:ptCount val="20"/>
              <c:pt idx="0">
                <c:v>60.44666666666667</c:v>
              </c:pt>
              <c:pt idx="1">
                <c:v>50.604</c:v>
              </c:pt>
              <c:pt idx="2">
                <c:v>35.888</c:v>
              </c:pt>
              <c:pt idx="3">
                <c:v>25.376</c:v>
              </c:pt>
              <c:pt idx="4">
                <c:v>17.503999999999998</c:v>
              </c:pt>
              <c:pt idx="5">
                <c:v>11.588000000000001</c:v>
              </c:pt>
              <c:pt idx="6">
                <c:v>6.848000000000001</c:v>
              </c:pt>
              <c:pt idx="7">
                <c:v>4.872</c:v>
              </c:pt>
              <c:pt idx="8">
                <c:v>2.6800000000000006</c:v>
              </c:pt>
              <c:pt idx="9">
                <c:v>1.876</c:v>
              </c:pt>
              <c:pt idx="10">
                <c:v>1.496</c:v>
              </c:pt>
              <c:pt idx="11">
                <c:v>0.9640000000000001</c:v>
              </c:pt>
              <c:pt idx="12">
                <c:v>0.7000000000000001</c:v>
              </c:pt>
              <c:pt idx="13">
                <c:v>0.43600000000000005</c:v>
              </c:pt>
              <c:pt idx="14">
                <c:v>0.272</c:v>
              </c:pt>
              <c:pt idx="15">
                <c:v>0.21600000000000003</c:v>
              </c:pt>
              <c:pt idx="16">
                <c:v>0.15999999999999998</c:v>
              </c:pt>
              <c:pt idx="17">
                <c:v>0.076</c:v>
              </c:pt>
              <c:pt idx="18">
                <c:v>0.044</c:v>
              </c:pt>
              <c:pt idx="19">
                <c:v>0.036</c:v>
              </c:pt>
            </c:numLit>
          </c:val>
          <c:smooth val="0"/>
        </c:ser>
        <c:ser>
          <c:idx val="3"/>
          <c:order val="3"/>
          <c:tx>
            <c:v>Full Framework</c:v>
          </c:tx>
          <c:spPr>
            <a:solidFill xmlns:a="http://schemas.openxmlformats.org/drawingml/2006/main">
              <a:srgbClr val="1B8A5A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20"/>
              <c:pt idx="0">
                <c:v>30</c:v>
              </c:pt>
              <c:pt idx="1">
                <c:v>60</c:v>
              </c:pt>
              <c:pt idx="2">
                <c:v>90</c:v>
              </c:pt>
              <c:pt idx="3">
                <c:v>120</c:v>
              </c:pt>
              <c:pt idx="4">
                <c:v>150</c:v>
              </c:pt>
              <c:pt idx="5">
                <c:v>180</c:v>
              </c:pt>
              <c:pt idx="6">
                <c:v>210</c:v>
              </c:pt>
              <c:pt idx="7">
                <c:v>240</c:v>
              </c:pt>
              <c:pt idx="8">
                <c:v>270</c:v>
              </c:pt>
              <c:pt idx="9">
                <c:v>300</c:v>
              </c:pt>
              <c:pt idx="10">
                <c:v>330</c:v>
              </c:pt>
              <c:pt idx="11">
                <c:v>360</c:v>
              </c:pt>
              <c:pt idx="12">
                <c:v>390</c:v>
              </c:pt>
              <c:pt idx="13">
                <c:v>420</c:v>
              </c:pt>
              <c:pt idx="14">
                <c:v>450</c:v>
              </c:pt>
              <c:pt idx="15">
                <c:v>480</c:v>
              </c:pt>
              <c:pt idx="16">
                <c:v>510</c:v>
              </c:pt>
              <c:pt idx="17">
                <c:v>540</c:v>
              </c:pt>
              <c:pt idx="18">
                <c:v>570</c:v>
              </c:pt>
              <c:pt idx="19">
                <c:v>600</c:v>
              </c:pt>
            </c:numLit>
          </c:cat>
          <c:val>
            <c:numLit>
              <c:formatCode>General</c:formatCode>
              <c:ptCount val="20"/>
              <c:pt idx="0">
                <c:v>59.720000000000006</c:v>
              </c:pt>
              <c:pt idx="1">
                <c:v>50.528000000000006</c:v>
              </c:pt>
              <c:pt idx="2">
                <c:v>35.49999999999999</c:v>
              </c:pt>
              <c:pt idx="3">
                <c:v>24.860000000000003</c:v>
              </c:pt>
              <c:pt idx="4">
                <c:v>15.547999999999998</c:v>
              </c:pt>
              <c:pt idx="5">
                <c:v>10.152</c:v>
              </c:pt>
              <c:pt idx="6">
                <c:v>6.228</c:v>
              </c:pt>
              <c:pt idx="7">
                <c:v>4.696</c:v>
              </c:pt>
              <c:pt idx="8">
                <c:v>2.7800000000000002</c:v>
              </c:pt>
              <c:pt idx="9">
                <c:v>1.3519999999999999</c:v>
              </c:pt>
              <c:pt idx="10">
                <c:v>1.084</c:v>
              </c:pt>
              <c:pt idx="11">
                <c:v>0.728</c:v>
              </c:pt>
              <c:pt idx="12">
                <c:v>0.504</c:v>
              </c:pt>
              <c:pt idx="13">
                <c:v>0.33999999999999997</c:v>
              </c:pt>
              <c:pt idx="14">
                <c:v>0.27199999999999996</c:v>
              </c:pt>
              <c:pt idx="15">
                <c:v>0.184</c:v>
              </c:pt>
              <c:pt idx="16">
                <c:v>0.10400000000000001</c:v>
              </c:pt>
              <c:pt idx="17">
                <c:v>0.07999999999999999</c:v>
              </c:pt>
              <c:pt idx="18">
                <c:v>0.036</c:v>
              </c:pt>
              <c:pt idx="19">
                <c:v>0.05600000000000001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Episodes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/>
                  <a:t>Illegal actions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ED5EE0-BF74-491A-9DFB-7CE072FF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Taxi-v4 Reinforcement Learning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F0BD4-239C-4B26-821F-192D0593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238250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Reward Design,</a:t>
            </a:r>
          </a:p>
          <a:p xmlns:a="http://schemas.openxmlformats.org/drawingml/2006/main">
            <a:pPr algn="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Prioritized Sweeping</a:t>
            </a:r>
          </a:p>
          <a:p xmlns:a="http://schemas.openxmlformats.org/drawingml/2006/main">
            <a:pPr algn="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and Generalization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C5996-A81B-4181-AD51-C380311A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Names: [Name 1], [Name 2]</a:t>
            </a:r>
          </a:p>
          <a:p xmlns:a="http://schemas.openxmlformats.org/drawingml/2006/main">
            <a:pPr algn="r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Algorithm: SARSA + Planning +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280D4-4113-49CF-B373-B32E9BF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25336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4FDE9-A7FC-4EC5-9DB9-9B5E065F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8C87D-5746-42BC-A348-0DC8B270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6FF0B-06CC-4888-8D8F-DD4A70A9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F76B5D-E297-48E4-80BD-41E99D92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28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4FE00-EE33-429C-9D22-BA57D25F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28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6041F-8306-49C3-B735-9BA90374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3D1A8D-E7EE-4910-8988-C757D46F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05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FE207-7452-486B-B1F3-DD3503F5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05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A29144-2FD4-459A-B133-7A0A202B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905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83513-4DD6-480B-B232-C61656D6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05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B2B11-B9C5-4566-A417-FCBAC49E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5F913-3466-45E4-A9D3-14F1914F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4D21B-C7CB-4C8E-B942-E2E0E22F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E2538-C0A1-45A1-BE7F-28395954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812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6F6E3-40F7-4606-A1E0-9824AA17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46372-A2DC-4EB7-912F-A4F35B80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13619-DECB-4597-866A-C3D12D5C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EE0F3-9E88-4FF1-8486-F8527F87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311C98-9AD5-4DE4-A599-68591C69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7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3F184-1D81-482C-9637-4AC08A73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E2AA6-8EC8-4065-93AA-5DA769F8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2891E3-4B17-4CFD-83A5-48D96612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B0897-A9E7-4172-9132-DE56AD1B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33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282937-B601-4E01-A6D5-BA96BD6B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33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E36529-9C71-420A-9480-2B42077A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7B664A-1D6E-497C-9EC7-DCAF8AEC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144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54F89E-5AF2-40EC-BC8F-9FA360D8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5144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C22755-467E-47D3-ADCA-CC52D769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194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7DBDD5-3AF9-4E4F-BBFC-A40DD206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194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solidFill>
              <a:srgbClr val="1F4D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D626BC-D09F-4662-87D2-3810459B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246697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531D32-E3EE-43E6-B2EE-328C8A97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011293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13F577-7593-43E4-A070-B50CF133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Reward Design | Prioritized Sweeping |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AA3B20-017B-42AE-B203-76E830B6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Challenge: Efficient Taxi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521C7-317B-41FC-84DD-A0D30683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2A39E-6B2C-4DD1-A18C-4A627297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619B3-9404-4A03-A4E3-B98A2812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9BB0D-5C17-4AD6-B22E-51C029F3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057EB-65CD-442E-B91D-9BAFEA10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EE64E-26C5-4AFB-B9B1-7EEABAB3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Pick up a passenger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and drop them at</a:t>
            </a:r>
          </a:p>
          <a:p xmlns:a="http://schemas.openxmlformats.org/drawingml/2006/main"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the correct destination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74FEE-D3FC-4F19-85E5-AC604863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2860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54C3D-72FF-4BE6-94F8-EA605815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Naive SARSA learns slowly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because each real step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updates only one 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BAFC4-4403-42B9-A76C-30E6EE2B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860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41C2A-2D62-47A2-A2D6-4FDA8FC3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0375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Accelerate learning with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Planning and Generalization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while keeping Taxi-v4 fixed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D4979-EB40-4C5C-BA9D-96070EAF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13518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EDCD25-7E6F-4D76-9AE4-0181114E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Reward Design | Prioritized Sweeping |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9BC838-3F27-4EC4-BC97-8BA8E8CC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Engine: SARSA + Prioritized Sweeping + Kernel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188C8-1AC0-45E0-A374-12D54C2B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9A5B5-093A-4E69-A68D-614C39B4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666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7666C-EBC5-44F3-90FA-BD43FD45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1400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B516B-60B6-4E43-817F-67BC3231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533650"/>
            <a:ext cx="24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BA52D-C96A-47E6-8164-DD9BD088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190750"/>
            <a:ext cx="1666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7CFEE-D4DE-405D-8D4E-21BE76F1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19350"/>
            <a:ext cx="1400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50C77-D761-428B-8797-E91EDF6D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33650"/>
            <a:ext cx="24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2E186-459C-4C2F-9875-10609869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1666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DEA0F-1FCB-4D8A-8614-C83E538F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1400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Reward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AC743-0DDA-4D6C-A101-078E5DB5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533650"/>
            <a:ext cx="24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5AD272-6CC3-49A7-89FA-24A15DD1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1666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800C2-9950-4338-B1FF-2AB62C9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19350"/>
            <a:ext cx="1400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TD 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A44D0-A4FE-4923-A675-8922C00B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33650"/>
            <a:ext cx="24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4A4B9-B054-496C-8EAF-50883360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1666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19408-F2E2-4895-A3B1-D3248BBD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1400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Priority Queue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5B5D0F-A03B-48E4-BE7C-3AD1CF44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33650"/>
            <a:ext cx="24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5555"/>
                </a:solidFill>
              </a:defRPr>
            </a:pPr>
            <a:r>
              <a:rPr sz="2100" b="1">
                <a:solidFill>
                  <a:srgbClr val="555555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091F2A-7245-4F15-8CD9-C2B0A8F6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90750"/>
            <a:ext cx="1666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CA79A-0B40-42BB-A4BC-649ED895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419350"/>
            <a:ext cx="14001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Planning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89E3E-497B-465F-AAD1-D737DCBC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14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SARSA update: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66C3C-1527-442D-9F2F-93AF43D2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71950"/>
            <a:ext cx="878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4D78"/>
                </a:solidFill>
              </a:defRPr>
            </a:pPr>
            <a:r>
              <a:rPr sz="2100" b="1">
                <a:solidFill>
                  <a:srgbClr val="1F4D78"/>
                </a:solidFill>
              </a:rPr>
              <a:t>Q(s,a) ← Q(s,a) + α[r + γQ(s',a') − Q(s,a)]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B1B4CB-DEBA-4122-B565-62CE655C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530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The real update comes from the environment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F1AEC-087A-4060-8F7D-B0E32F79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768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Planning updates come from the learned internal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11B8C-FF85-4937-9DDA-D7F6A110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007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The priority queue focuses on large TD errors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FFAACD-605A-4855-B78A-959DF70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32955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BACE73-A4E9-4254-A709-4595063A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Reward Design | Prioritized Sweeping |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A97DC-9B9E-4D5D-AB9B-AE73FA24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Reward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56632-DE63-4895-B2B1-9A8EA270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6911B-DDCF-4F72-ABCB-36ECF101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379B9-C14B-40BF-8EEF-6A74A28F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763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2938A-0296-48F6-A7FE-D5D541AF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76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Core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237B9-AC0A-4832-B3AD-F46B98DF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76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F8CCA-E364-440D-A744-4E9DB845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E7F8B-1183-453F-B32D-F8FB2008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36804-2F44-41C8-A266-85F7952B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057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Original Taxi reward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70D74C-91E1-4684-88C3-8073273A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Benchmark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C250F-9A7E-4271-9182-C80D3D75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F0495-7756-4719-B7FA-CD3E6F43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Sparse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55ACA-9952-434B-9176-C16A540B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24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+1 only for successful dropoff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D0EE0-C6F8-4734-A321-BE6ECE1A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Hard challenge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3A779-A57C-44F1-8CD6-F8D6DC9B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6E535F-22EE-467F-9D19-3E3BAF4E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Reward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E041C-CAD7-4159-8A42-2AC99FCE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909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Progress toward current target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913FB-8649-48FF-9400-273F72D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Dense progress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EE2CB-F85B-4234-A9BD-DB35153B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9B647-15FC-4413-81FD-3D5898FA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Reward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AE3B5-C735-4660-8DBC-0C338ABB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57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Subgoals + illegal-action penalty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D0201-395E-4981-8A10-7B7E36EA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DD14C-FF51-4F47-9E5B-8DED6CA4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236C3F-28DE-47BB-A1D0-0F022FF0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724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Reward 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699812-9266-42FA-9257-4E9923C4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24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Shortens the full remaining 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2AF6F4-1E50-4C05-8AB6-9B581DB8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Composite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E41DD9-83E0-4928-9AAA-FEF5537C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31983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AB7087-6364-4A84-A50E-2B57A480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Reward Design | Prioritized Sweeping |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0072C-04E1-4F62-8DEC-8E17392F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Kernel Generalization: Sharing Learning Across Similar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4FFEA-31DE-47AF-8A38-8D1796C3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81DA3-D2AF-4BCC-B7AC-1E211374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19300"/>
            <a:ext cx="32004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E0AAC-BE3C-46D7-96D7-2AA0302F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4E168-C116-46B1-B618-F35EBF42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955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0D6C1-E43E-4503-BA6C-75316B04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955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E2D08-8BD0-4370-966E-D055059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955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B3EBB-F9CE-415E-8F46-3E2D548C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955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0619A-5869-4B52-9912-B66B5F76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051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E709BB-435F-4A0A-9C86-29C2CC72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051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5D86D-8499-4C7D-9AB7-6838AE94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051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79984-F0D4-4358-8BD2-9BC0CE94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051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47EDC-85E7-4D5A-809C-2E2A0B7E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051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A9E5B-F2E5-4360-9DFE-52CA7005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E09F3-45A7-4569-A32E-D208E638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147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8D25B-B984-4726-95E9-0D17AAB0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0E8F0-CB18-4886-B807-BAC754C8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147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45C972-D881-4306-B56D-27C7676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147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79D76-2A04-4453-8C12-EC6CA56A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C3B12F-8E98-4E15-A34C-735BFF92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243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FAFA3-7760-4B3A-AFC8-96ED13AE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243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1456C-73E5-4C27-9579-A015D04E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243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52664E-4764-45C4-9F4B-F92FA327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243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84953E-8834-4CF5-8776-7D933D43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C04372-606D-4F7E-8A3C-801B615B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339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3846F0-D0D4-4835-B65A-C88313FE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775892-4B19-459F-8F38-D7AFD85F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339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3C1A5E-E437-4985-898E-194C946A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3390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FA7A3B-D9FF-41CC-9C40-2B1096BE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978" y="2205228"/>
            <a:ext cx="390144" cy="3901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2BF353-D96A-4297-9A5A-D86FCF65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378" y="2205228"/>
            <a:ext cx="390144" cy="3901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232DE-44F2-4328-A9B8-73BD9392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978" y="4643628"/>
            <a:ext cx="390144" cy="3901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5EDBEC-9583-429A-BEF1-16A60A58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778" y="4643628"/>
            <a:ext cx="390144" cy="3901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solidFill>
              <a:srgbClr val="1F4D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208D22-FC0E-4337-89DD-1418EBF5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178" y="3424428"/>
            <a:ext cx="390144" cy="3901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3B2CE3-355E-45C2-AE41-CEF57608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F4D78"/>
                </a:solidFill>
              </a:defRPr>
            </a:pPr>
            <a:r>
              <a:rPr sz="2250" b="1">
                <a:solidFill>
                  <a:srgbClr val="1F4D78"/>
                </a:solidFill>
              </a:rPr>
              <a:t>K(s,ŝ) = 1 / (1 + exp(β(d(s,ŝ) − c)))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E1EAFD-71B3-464F-9DBF-24B67B60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Similarity is based on Manhattan distance between taxi positions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315A96-FE02-48D2-BFF1-F2335EB4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States are compared only with the same passenger status and destination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569061-3E07-48C9-88E1-6C2266FB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528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Generalization is applied to movement actions, not pickup/dropoff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761D31-FCEF-4753-872D-1E799BE5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529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This spreads knowledge locally while preserving task semantics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23EC26-C818-4072-B086-B38F7707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67815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ABE756-27E7-4E04-BD87-D277DDC8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Reward Design | Prioritized Sweeping |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1BC1B-66D4-4A28-8FE9-377CDEF5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Experimental Results: Reward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E0ABE-7F80-4E5D-920B-815B80CB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919d7b8a04a3c"/>
          <a:stretch xmlns:a="http://schemas.openxmlformats.org/drawingml/2006/main"/>
        </p:blipFill>
        <p:spPr>
          <a:xfrm xmlns:a="http://schemas.openxmlformats.org/drawingml/2006/main">
            <a:off x="523875" y="2260023"/>
            <a:ext cx="5334000" cy="290945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7b5a067af43f8"/>
          <a:stretch xmlns:a="http://schemas.openxmlformats.org/drawingml/2006/main"/>
        </p:blipFill>
        <p:spPr>
          <a:xfrm xmlns:a="http://schemas.openxmlformats.org/drawingml/2006/main">
            <a:off x="6191250" y="2260023"/>
            <a:ext cx="5334000" cy="290945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AA811-A91F-4CC6-B4CE-2A6D189B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Key message: internal reward scales differ, so Environment Reward and Success Rate provide the fairest comparison.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64B19-1EF5-4E5A-A7DE-F1D22A92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228035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0F873A-BD35-44AE-AC31-1A644544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Reward Design | Prioritized Sweeping |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144D3-1FB0-4C8E-89B1-9784CA0F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Animation: What We Show During the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0FCE3-4C3A-43E9-91B3-5DB8BEC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0E2EA-9AF6-4778-A243-54529364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953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B4266-0C48-4CC5-A1BC-D6540D21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400300"/>
            <a:ext cx="25336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BA738-CDB1-4150-801A-28F5890A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76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546A5-20C6-4301-B799-0EB08D32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76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8A282-23FB-4FE7-96AE-452ABDB1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82F03-6A40-4CE2-920F-11CF47DC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1777B-9B7E-4AB7-A360-EC173176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76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370A6-8D06-4AAF-9624-FDE74269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47358-2C68-41F2-9BB6-5E9204BE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52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4158F-9786-414B-9218-0C641EF3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52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A5E3F-7B41-43C2-8DAB-9AA9A54D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52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FFD00-7119-4CCF-836C-2F203EE0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527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99A7A-CC86-48BF-9384-02F2DD18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29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23BB0-8FE5-4A97-8888-BE5A9824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29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20D91-C178-46C3-9A55-28BF9F20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29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0FFD7-1E3B-4F3A-9071-689C7B78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29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B682A-A2AB-44BA-81C4-D3F0EBFA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290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74DDB8-4C07-463A-8C77-D3E7DEB2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052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3EF2A-DE05-47A2-B2C4-4439D2FB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052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AC58C-A4B8-4321-93BC-BF226122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052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E58003-26AC-4EA2-B566-3C77D7C2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052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38C269-4834-4E0D-81B3-F0F7FCE6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B316A-2681-4E3F-A922-5E0E9494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81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749B75-0E94-4F67-BABE-F6308EAA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81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41B43D-3B0A-4A9E-8748-08DAC090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381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CDC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1ABBBA-10C3-444C-BF8F-5A1D4048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81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C9C57F-8A88-42C5-B678-D29DC265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81500"/>
            <a:ext cx="47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BBB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6FD8E7-8420-4586-B888-219BCA56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62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0">
            <a:solidFill>
              <a:srgbClr val="D628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5B84D2-41E7-45EB-8196-AC6E835D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62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8A5A"/>
          </a:solidFill>
          <a:ln xmlns:a="http://schemas.openxmlformats.org/drawingml/2006/main" w="0">
            <a:solidFill>
              <a:srgbClr val="1B8A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7C6899-196C-4C53-B168-D582297D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67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227"/>
          </a:solidFill>
          <a:ln xmlns:a="http://schemas.openxmlformats.org/drawingml/2006/main" w="0">
            <a:solidFill>
              <a:srgbClr val="C9A2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96BE6E-63F0-4AA0-B1EE-D7AE7E76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67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solidFill>
              <a:srgbClr val="1F4D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62929D-FBD0-4FE6-9D95-B74698A6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147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678F2E-E5F4-4BCE-A705-37EA6F8C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F76CAC-780F-41C3-B57E-CE1311F0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Demo command: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3736B4-ADCA-4F03-A35F-011E6FD9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python main.py --visualize-saved --seed 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96C21C-9080-4680-A651-9D2BCA2D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00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Visualization episode 1</a:t>
            </a:r>
          </a:p>
          <a:p xmlns:a="http://schemas.openxmlformats.org/drawingml/2006/main">
            <a:pPr algn="ctr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steps=12 | reward=9 | SUCCESS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987B8D-8302-451F-B547-38DDC40C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During the presentation: load a successful saved seed and show the policy without retraining.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9CCDEA-3060-483C-890E-76EEE463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24787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B51CD8-CD20-49AA-ACBD-A5FD0291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Reward Design | Prioritized Sweeping |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07972-71CD-4630-B877-3AB5CCF9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Ablation Study: Contribution of Each Component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6637D-54F2-41D0-8122-E5A23F1A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ea14a0d674e09"/>
          <a:stretch xmlns:a="http://schemas.openxmlformats.org/drawingml/2006/main"/>
        </p:blipFill>
        <p:spPr>
          <a:xfrm xmlns:a="http://schemas.openxmlformats.org/drawingml/2006/main">
            <a:off x="523875" y="2260023"/>
            <a:ext cx="5334000" cy="290945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760cb08f84ee9"/>
          <a:stretch xmlns:a="http://schemas.openxmlformats.org/drawingml/2006/main"/>
        </p:blipFill>
        <p:spPr>
          <a:xfrm xmlns:a="http://schemas.openxmlformats.org/drawingml/2006/main">
            <a:off x="6191250" y="2260023"/>
            <a:ext cx="5334000" cy="290945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6E739-C215-41A8-9ACF-61DEC297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293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This is the core research story: Planning and Kernel change both learning speed and stability.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802CC-49AD-4FA0-80DE-658EB738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997446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DDCE7E-47A9-4D94-9FA8-8B447D66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Reward Design | Prioritized Sweeping |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9BCBD-FCFD-4639-A688-7E1DA3EB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Parameter Sweep: Hyperparameters Were Tested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30615-962F-4E6B-816C-B3D4908D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02f6962634d11"/>
          <a:stretch xmlns:a="http://schemas.openxmlformats.org/drawingml/2006/main"/>
        </p:blipFill>
        <p:spPr>
          <a:xfrm xmlns:a="http://schemas.openxmlformats.org/drawingml/2006/main">
            <a:off x="1143000" y="2020661"/>
            <a:ext cx="4476750" cy="3197679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f33f0f8e04bb7"/>
          <a:stretch xmlns:a="http://schemas.openxmlformats.org/drawingml/2006/main"/>
        </p:blipFill>
        <p:spPr>
          <a:xfrm xmlns:a="http://schemas.openxmlformats.org/drawingml/2006/main">
            <a:off x="6572250" y="2020661"/>
            <a:ext cx="4476750" cy="319767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89ADB-7891-47B4-9E7E-FFEE08A9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The heatmaps show final mean Environment Reward for each combination of α and planning steps 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5908C-7CB8-4804-8359-58F3E6E5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864098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3CE0DA-8AB7-4274-AF2E-177F6891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Reward Design | Prioritized Sweeping |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39843-31E3-43CC-BE08-730C85C0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Stability Metric: Illegal Actions Decrease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07211-224D-432B-8BCD-2CE14898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1047750" y="1809750"/>
          <a:ext xmlns:a="http://schemas.openxmlformats.org/drawingml/2006/main" cx="9620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29cb6a3b2f405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85A4C-EA08-45B1-8DF4-80B707BD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The final experiment tracks three metrics: Environment Reward, Success, and Illegal Actions. This slide shows whether behavior becomes more stable.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F2D0C-F09A-4059-8A28-0DE8E4B0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53151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9A2B7-85F3-4FD8-BF6F-44517A2A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Reward Design | Prioritized Sweeping |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98CE4-D067-4B1B-895B-C65C006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6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Insights and Conclusions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7E1A9-CC10-4BC3-B23A-F06146B3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B2F8A-E0C4-4B24-BF82-9561767D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A4E9F-DE9B-4B2B-973B-418B32E2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A03C5-0586-4808-81E8-393B87FB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6D6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BEAC4-69C5-4EB9-920F-6100A925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What Worked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F9824-925E-47C2-B97B-5A5CE011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257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Planning reuses experience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Kernel spreads local knowledge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Dense rewards guide navigation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B7F764-948B-47F5-817B-BA56DA49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What Was Hard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B6545-5763-4309-8499-1CADB77F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57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Sparse reward gives weak signal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Kernel must be constrained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Some seeds can still fail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201F6-B793-4564-9507-28BBA5D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33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Main 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4EBE7-8203-4F2C-8581-3B72F2AB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0"/>
            <a:ext cx="247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Performance comes from the combination: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reward design, planning,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and controlled generalization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08E4C-DCF8-4624-A7B3-F47577B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90488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34237E-3575-463F-AEC5-F3E7761D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00" b="1">
                <a:solidFill>
                  <a:srgbClr val="FFFFFF"/>
                </a:solidFill>
              </a:defRPr>
            </a:pPr>
            <a:r>
              <a:rPr sz="6300" b="1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E43F8-5F5F-4D5E-9EE3-24F63556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Questions to be ready for:</a:t>
            </a:r>
          </a:p>
          <a:p xmlns:a="http://schemas.openxmlformats.org/drawingml/2006/main">
            <a:pPr algn="ctr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Why SARSA instead of Q-learning? Why apply Kernel only to movement? Why 5 seeds? How should we interpret the 95% CI?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4ECFF-75F4-4606-B0F3-51A8FC75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292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Demo command: python main.py --visualize-saved --seed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3394D-EE9E-44D6-BD9C-4D9D1BAD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34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52348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2026-06-26T14:57:44.9880000Z</dcterms:created>
  <dcterms:modified xsi:type="dcterms:W3CDTF">2026-06-26T14:57:44.9880000Z</dcterms:modified>
</coreProperties>
</file>